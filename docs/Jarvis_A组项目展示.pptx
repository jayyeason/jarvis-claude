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65392" y="1280160"/>
            <a:ext cx="4617720" cy="4498848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14813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463EB"/>
                </a:solidFill>
                <a:latin typeface="PingFang SC" panose="020B0400000000000000" charset="-122"/>
              </a:rPr>
              <a:t>A组项目答辩</a:t>
            </a:r>
            <a:endParaRPr sz="1300" b="1">
              <a:solidFill>
                <a:srgbClr val="2463EB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096" y="2029968"/>
            <a:ext cx="51663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1F2328"/>
                </a:solidFill>
                <a:latin typeface="PingFang SC" panose="020B0400000000000000" charset="-122"/>
              </a:rPr>
              <a:t>Jarvis 项目展示</a:t>
            </a:r>
            <a:endParaRPr sz="40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528" y="2798064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0">
                <a:solidFill>
                  <a:srgbClr val="57606A"/>
                </a:solidFill>
                <a:latin typeface="PingFang SC" panose="020B0400000000000000" charset="-122"/>
              </a:rPr>
              <a:t>macOS AI 效率助理</a:t>
            </a:r>
            <a:endParaRPr sz="1800" b="0">
              <a:solidFill>
                <a:srgbClr val="57606A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4672" y="3401568"/>
            <a:ext cx="1828800" cy="32004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22191"/>
            <a:ext cx="4709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60" b="0">
                <a:solidFill>
                  <a:srgbClr val="1F2328"/>
                </a:solidFill>
                <a:latin typeface="PingFang SC" panose="020B0400000000000000" charset="-122"/>
              </a:rPr>
              <a:t>• 常驻 macOS 顶栏，以灵动岛形态承载入口</a:t>
            </a:r>
            <a:endParaRPr sz="146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60" b="0">
                <a:solidFill>
                  <a:srgbClr val="1F2328"/>
                </a:solidFill>
                <a:latin typeface="PingFang SC" panose="020B0400000000000000" charset="-122"/>
              </a:rPr>
              <a:t>• 用截图和自然语言理解日程、待办与用户意图</a:t>
            </a:r>
            <a:endParaRPr sz="146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60" b="0">
                <a:solidFill>
                  <a:srgbClr val="1F2328"/>
                </a:solidFill>
                <a:latin typeface="PingFang SC" panose="020B0400000000000000" charset="-122"/>
              </a:rPr>
              <a:t>• 在用户确认后写入 Calendar、Reminder 等系统能力</a:t>
            </a:r>
            <a:endParaRPr sz="146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01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A组分工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44752"/>
            <a:ext cx="4800600" cy="1554480"/>
          </a:xfrm>
          <a:prstGeom prst="rect">
            <a:avLst/>
          </a:prstGeom>
          <a:solidFill>
            <a:srgbClr val="EFF6FF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642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1F2328"/>
                </a:solidFill>
                <a:latin typeface="PingFang SC" panose="020B0400000000000000" charset="-122"/>
              </a:rPr>
              <a:t>陈敬麒</a:t>
            </a:r>
            <a:endParaRPr sz="19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7168" y="16916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2463EB"/>
                </a:solidFill>
                <a:latin typeface="PingFang SC" panose="020B0400000000000000" charset="-122"/>
              </a:rPr>
              <a:t>Swift 前端</a:t>
            </a:r>
            <a:endParaRPr sz="1250" b="1">
              <a:solidFill>
                <a:srgbClr val="2463EB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2157984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80" b="0">
                <a:solidFill>
                  <a:srgbClr val="1F2328"/>
                </a:solidFill>
                <a:latin typeface="PingFang SC" panose="020B0400000000000000" charset="-122"/>
              </a:rPr>
              <a:t>菜单栏、灵动岛、确认卡片、Memory 可视化与交互细节</a:t>
            </a:r>
            <a:endParaRPr sz="138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99632" y="1444752"/>
            <a:ext cx="4800600" cy="1554480"/>
          </a:xfrm>
          <a:prstGeom prst="rect">
            <a:avLst/>
          </a:prstGeom>
          <a:solidFill>
            <a:srgbClr val="F8FAFC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64208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1F2328"/>
                </a:solidFill>
                <a:latin typeface="PingFang SC" panose="020B0400000000000000" charset="-122"/>
              </a:rPr>
              <a:t>翁凡茜</a:t>
            </a:r>
            <a:endParaRPr sz="19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0E7490"/>
                </a:solidFill>
                <a:latin typeface="PingFang SC" panose="020B0400000000000000" charset="-122"/>
              </a:rPr>
              <a:t>系统后端</a:t>
            </a:r>
            <a:endParaRPr sz="1250" b="1">
              <a:solidFill>
                <a:srgbClr val="0E7490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55664" y="2157984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80" b="0">
                <a:solidFill>
                  <a:srgbClr val="1F2328"/>
                </a:solidFill>
                <a:latin typeface="PingFang SC" panose="020B0400000000000000" charset="-122"/>
              </a:rPr>
              <a:t>Gateway 服务、系统权限、EventKit/Reminder 写入和工具接口</a:t>
            </a:r>
            <a:endParaRPr sz="138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4800600" cy="1554480"/>
          </a:xfrm>
          <a:prstGeom prst="rect">
            <a:avLst/>
          </a:prstGeom>
          <a:solidFill>
            <a:srgbClr val="F0FDF4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92277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1F2328"/>
                </a:solidFill>
                <a:latin typeface="PingFang SC" panose="020B0400000000000000" charset="-122"/>
              </a:rPr>
              <a:t>李博文</a:t>
            </a:r>
            <a:endParaRPr sz="19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87168" y="39502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6A34A"/>
                </a:solidFill>
                <a:latin typeface="PingFang SC" panose="020B0400000000000000" charset="-122"/>
              </a:rPr>
              <a:t>Agent 设计</a:t>
            </a:r>
            <a:endParaRPr sz="1250" b="1">
              <a:solidFill>
                <a:srgbClr val="16A34A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8992" y="441655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80" b="0">
                <a:solidFill>
                  <a:srgbClr val="1F2328"/>
                </a:solidFill>
                <a:latin typeface="PingFang SC" panose="020B0400000000000000" charset="-122"/>
              </a:rPr>
              <a:t>意图解析策略、Tool Schema、多级 Memory 和主动提醒设计</a:t>
            </a:r>
            <a:endParaRPr sz="138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632" y="3703320"/>
            <a:ext cx="4800600" cy="1554480"/>
          </a:xfrm>
          <a:prstGeom prst="rect">
            <a:avLst/>
          </a:prstGeom>
          <a:solidFill>
            <a:srgbClr val="FFF7ED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922776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1F2328"/>
                </a:solidFill>
                <a:latin typeface="PingFang SC" panose="020B0400000000000000" charset="-122"/>
              </a:rPr>
              <a:t>周家正</a:t>
            </a:r>
            <a:endParaRPr sz="19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39502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D97706"/>
                </a:solidFill>
                <a:latin typeface="PingFang SC" panose="020B0400000000000000" charset="-122"/>
              </a:rPr>
              <a:t>Agent 实现</a:t>
            </a:r>
            <a:endParaRPr sz="1250" b="1">
              <a:solidFill>
                <a:srgbClr val="D97706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55664" y="4416552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80" b="0">
                <a:solidFill>
                  <a:srgbClr val="1F2328"/>
                </a:solidFill>
                <a:latin typeface="PingFang SC" panose="020B0400000000000000" charset="-122"/>
              </a:rPr>
              <a:t>ReAct 主流程、工具调度、heartbeat 与自学习逻辑落地</a:t>
            </a:r>
            <a:endParaRPr sz="138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02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项目概览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2240280" cy="3611880"/>
          </a:xfrm>
          <a:prstGeom prst="rect">
            <a:avLst/>
          </a:prstGeom>
          <a:solidFill>
            <a:srgbClr val="EFF6FF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556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463EB"/>
                </a:solidFill>
                <a:latin typeface="PingFang SC" panose="020B0400000000000000" charset="-122"/>
              </a:rPr>
              <a:t>核心定位</a:t>
            </a:r>
            <a:endParaRPr sz="1600" b="1">
              <a:solidFill>
                <a:srgbClr val="2463EB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340864"/>
            <a:ext cx="18105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1F2328"/>
                </a:solidFill>
                <a:latin typeface="PingFang SC" panose="020B0400000000000000" charset="-122"/>
              </a:rPr>
              <a:t>常驻 macOS 顶栏的 AI 效率助理，把碎片信息转成系统里的日程、待办和提醒。</a:t>
            </a:r>
            <a:endParaRPr sz="135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11880" y="1481328"/>
            <a:ext cx="2240280" cy="3611880"/>
          </a:xfrm>
          <a:prstGeom prst="rect">
            <a:avLst/>
          </a:prstGeom>
          <a:solidFill>
            <a:srgbClr val="F8FAFC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17556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E7490"/>
                </a:solidFill>
                <a:latin typeface="PingFang SC" panose="020B0400000000000000" charset="-122"/>
              </a:rPr>
              <a:t>输入方式</a:t>
            </a:r>
            <a:endParaRPr sz="1600" b="1">
              <a:solidFill>
                <a:srgbClr val="0E7490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3048" y="2340864"/>
            <a:ext cx="18105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1F2328"/>
                </a:solidFill>
                <a:latin typeface="PingFang SC" panose="020B0400000000000000" charset="-122"/>
              </a:rPr>
              <a:t>截图、快捷键和自然语言对话；后续可扩展拖拽图片、命令和主动触发。</a:t>
            </a:r>
            <a:endParaRPr sz="135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0" y="1481328"/>
            <a:ext cx="2240280" cy="3611880"/>
          </a:xfrm>
          <a:prstGeom prst="rect">
            <a:avLst/>
          </a:prstGeom>
          <a:solidFill>
            <a:srgbClr val="F0FDF4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7556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 panose="020B0400000000000000" charset="-122"/>
              </a:rPr>
              <a:t>输出能力</a:t>
            </a:r>
            <a:endParaRPr sz="1600" b="1">
              <a:solidFill>
                <a:srgbClr val="16A34A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01968" y="2340864"/>
            <a:ext cx="18105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1F2328"/>
                </a:solidFill>
                <a:latin typeface="PingFang SC" panose="020B0400000000000000" charset="-122"/>
              </a:rPr>
              <a:t>生成候选 Calendar / Reminder / Note，并在用户确认后调用原生系统能力写入。</a:t>
            </a:r>
            <a:endParaRPr sz="135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89720" y="1481328"/>
            <a:ext cx="2240280" cy="3611880"/>
          </a:xfrm>
          <a:prstGeom prst="rect">
            <a:avLst/>
          </a:prstGeom>
          <a:solidFill>
            <a:srgbClr val="FFF7ED"/>
          </a:solidFill>
          <a:ln w="1016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17556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D97706"/>
                </a:solidFill>
                <a:latin typeface="PingFang SC" panose="020B0400000000000000" charset="-122"/>
              </a:rPr>
              <a:t>产品闭环</a:t>
            </a:r>
            <a:endParaRPr sz="1600" b="1">
              <a:solidFill>
                <a:srgbClr val="D97706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90888" y="2340864"/>
            <a:ext cx="181051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0">
                <a:solidFill>
                  <a:srgbClr val="1F2328"/>
                </a:solidFill>
                <a:latin typeface="PingFang SC" panose="020B0400000000000000" charset="-122"/>
              </a:rPr>
              <a:t>识别意图 → 补齐字段 → 用户确认 → 系统写入 → 反馈学习 → 下次更贴合。</a:t>
            </a:r>
            <a:endParaRPr sz="135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" y="5532120"/>
            <a:ext cx="10149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0">
                <a:solidFill>
                  <a:srgbClr val="57606A"/>
                </a:solidFill>
                <a:latin typeface="PingFang SC" panose="020B0400000000000000" charset="-122"/>
              </a:rPr>
              <a:t>答辩主线：Jarvis 不是单一聊天窗口，而是连接信息识别、系统写入和长期个性化的 macOS Agent。</a:t>
            </a:r>
            <a:endParaRPr sz="1450" b="0">
              <a:solidFill>
                <a:srgbClr val="57606A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03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截图日程 / 待办识别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用户通过 ⌘⇧J 截图，将图片交给 Agent 解析时间、地点、标题和类型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Agent 判断写入 Calendar 还是 Reminder，并生成可确认的候选结果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地点字段可接 MapKit 候选，用户选择后写入文字和坐标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缺失时长、地点或关键字段时，界面先补齐再执行写入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最终动作由用户确认，降低误写入系统日历和提醒事项的风险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1152144"/>
            <a:ext cx="5285232" cy="4892040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04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截图日程 / 待办识别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用户通过 ⌘⇧J 截图，将图片交给 Agent 解析时间、地点、标题和类型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Agent 判断写入 Calendar 还是 Reminder，并生成可确认的候选结果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地点字段可接 MapKit 候选，用户选择后写入文字和坐标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缺失时长、地点或关键字段时，界面先补齐再执行写入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最终动作由用户确认，降低误写入系统日历和提醒事项的风险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1152144"/>
            <a:ext cx="5285232" cy="4892040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04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对话功能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自然语言创建日程、待办和备忘录，适合不方便截图的场景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支持“明天下午三点开会”“每周三提醒我”等口语化表达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用户可在对话中修改 Jarvis 的语气、默认提醒和个人偏好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cron / heartbeat 类命令为主动检查和周期任务提供统一入口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对话结果仍走确认链路，保持可控、可追溯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1152144"/>
            <a:ext cx="5285232" cy="4892040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05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多级 Memory 系统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`soul.md`：定义 Jarvis 的角色、语气、边界和长期行为原则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`user.md`：记录用户偏好、常用默认值、提醒习惯和工作模式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`heartbeat.md`：保存主动检查条件、提醒线索和定时触发策略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工具、经验和错误记录可作为扩展记忆，按需检索而不是全部注入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分层记忆让 Agent 在稳定人设、个性化和主动性之间保持清晰职责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1152144"/>
            <a:ext cx="5285232" cy="4892040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06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Memory 可视化与编辑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从菜单栏进入 Memory 面板，直接查看 Jarvis 当前持有的关键记忆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Markdown 渲染用于阅读，编辑模式用于快速调整规则和偏好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保存后触发重载，让下一轮 Agent 调用立即使用新配置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可视化降低“AI 为什么这样做”的黑箱感，也方便答辩展示系统状态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1152144"/>
            <a:ext cx="5285232" cy="4892040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07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自学习和主动提醒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根据确认卡片中的修改，学习用户对提醒时间、优先级和字段填写的偏好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默认提醒从固定规则逐步变成个性化策略，例如会议提前 30 分钟或更早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Heartbeat 定时检查日程、待办和 Memory 线索，必要时只推通知不擅自写入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系统通知和灵动岛展开用于承载主动提醒，用户可确认、忽略或反馈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20" b="0">
                <a:solidFill>
                  <a:srgbClr val="1F2328"/>
                </a:solidFill>
                <a:latin typeface="PingFang SC" panose="020B0400000000000000" charset="-122"/>
              </a:rPr>
              <a:t>• 反馈继续回写 Memory，形成“使用越多越贴合”的闭环</a:t>
            </a:r>
            <a:endParaRPr sz="152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26480" y="1152144"/>
            <a:ext cx="5285232" cy="4892040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08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商业化调研和分析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2588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2463EB"/>
                </a:solidFill>
                <a:latin typeface="PingFang SC" panose="020B0400000000000000" charset="-122"/>
              </a:rPr>
              <a:t>目前市场情况</a:t>
            </a:r>
            <a:endParaRPr sz="1800" b="1">
              <a:solidFill>
                <a:srgbClr val="2463EB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91072" y="132588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16A34A"/>
                </a:solidFill>
                <a:latin typeface="PingFang SC" panose="020B0400000000000000" charset="-122"/>
              </a:rPr>
              <a:t>Jarvis 可能价值</a:t>
            </a:r>
            <a:endParaRPr sz="1800" b="1">
              <a:solidFill>
                <a:srgbClr val="16A34A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48920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AI 办公进入常态化：Gallup 2026 年 2 月数据显示，美国员工中 50% 已在工作中使用 AI，28% 每周多次使用。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应用正在 Agent 化：Gartner 预计到 2026 年底，40% 企业应用会集成任务型 AI Agent。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竞争格局拥挤但分散：OS 级助手、办公套件 Copilot、日历待办工具和自动化平台各自解决局部问题。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>
                <a:solidFill>
                  <a:srgbClr val="1F2328"/>
                </a:solidFill>
                <a:latin typeface="PingFang SC" panose="020B0400000000000000" charset="-122"/>
              </a:rPr>
              <a:t>• 工作碎片化明显：Microsoft Work Trend Index 2025 指出会议、邮件、聊天等频繁打断知识工作，“碎片信息转行动”仍是痛点。</a:t>
            </a:r>
            <a:endParaRPr sz="127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91072" y="1810512"/>
            <a:ext cx="48920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切入高频小任务：截图识别、自然语言录入、默认提醒和确认写入，能直接减少每天的整理成本。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macOS 原生整合：不是再造一个日历，而是把 Calendar、Reminder、Notifications 等系统能力连起来。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本地优先与用户确认：适合个人隐私和权限敏感场景，降低 AI 自动化带来的信任门槛。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70" b="0">
                <a:solidFill>
                  <a:srgbClr val="1F2328"/>
                </a:solidFill>
                <a:latin typeface="PingFang SC" panose="020B0400000000000000" charset="-122"/>
              </a:rPr>
              <a:t>• 可商业化方向：个人 Pro 订阅、团队席位、专业 Agent 工具包、隐私优先部署和高级 Memory 能力。</a:t>
            </a:r>
            <a:endParaRPr sz="127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10972" cy="4187952"/>
          </a:xfrm>
          <a:prstGeom prst="rect">
            <a:avLst/>
          </a:prstGeom>
          <a:solidFill>
            <a:srgbClr val="E1E5EA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806440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80" b="0">
                <a:solidFill>
                  <a:srgbClr val="808B96"/>
                </a:solidFill>
                <a:latin typeface="PingFang SC" panose="020B0400000000000000" charset="-122"/>
              </a:rPr>
              <a:t>资料来源：Gallup AI Indicator（2026.02）、Gartner Newsroom（2025.08）、Microsoft Work Trend Index（2025）</a:t>
            </a:r>
            <a:endParaRPr sz="88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09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下一步计划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3474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2463EB"/>
                </a:solidFill>
                <a:latin typeface="PingFang SC" panose="020B0400000000000000" charset="-122"/>
              </a:rPr>
              <a:t>1</a:t>
            </a:r>
            <a:endParaRPr sz="1200" b="1">
              <a:solidFill>
                <a:srgbClr val="2463EB"/>
              </a:solidFill>
              <a:latin typeface="PingFang SC" panose="020B0400000000000000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804672" y="1335024"/>
            <a:ext cx="347472" cy="347472"/>
          </a:xfrm>
          <a:prstGeom prst="ellipse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131673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2463EB"/>
                </a:solidFill>
                <a:latin typeface="PingFang SC" panose="020B0400000000000000" charset="-122"/>
              </a:rPr>
              <a:t>稳定性</a:t>
            </a:r>
            <a:endParaRPr sz="1600" b="1">
              <a:solidFill>
                <a:srgbClr val="2463EB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07792" y="1325880"/>
            <a:ext cx="818387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328"/>
                </a:solidFill>
                <a:latin typeface="PingFang SC" panose="020B0400000000000000" charset="-122"/>
              </a:rPr>
              <a:t>完善截图识别、字段补齐、写入失败重试、错误提示和日志追踪。</a:t>
            </a:r>
            <a:endParaRPr sz="140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9264" y="1773936"/>
            <a:ext cx="27432" cy="502920"/>
          </a:xfrm>
          <a:prstGeom prst="rect">
            <a:avLst/>
          </a:prstGeom>
          <a:solidFill>
            <a:srgbClr val="E1E5EA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3474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E7490"/>
                </a:solidFill>
                <a:latin typeface="PingFang SC" panose="020B0400000000000000" charset="-122"/>
              </a:rPr>
              <a:t>2</a:t>
            </a:r>
            <a:endParaRPr sz="1200" b="1">
              <a:solidFill>
                <a:srgbClr val="0E7490"/>
              </a:solidFill>
              <a:latin typeface="PingFang SC" panose="020B0400000000000000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4672" y="2276856"/>
            <a:ext cx="347472" cy="347472"/>
          </a:xfrm>
          <a:prstGeom prst="ellipse">
            <a:avLst/>
          </a:prstGeom>
          <a:noFill/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2585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E7490"/>
                </a:solidFill>
                <a:latin typeface="PingFang SC" panose="020B0400000000000000" charset="-122"/>
              </a:rPr>
              <a:t>权限体验</a:t>
            </a:r>
            <a:endParaRPr sz="1600" b="1">
              <a:solidFill>
                <a:srgbClr val="0E7490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07792" y="2267712"/>
            <a:ext cx="818387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328"/>
                </a:solidFill>
                <a:latin typeface="PingFang SC" panose="020B0400000000000000" charset="-122"/>
              </a:rPr>
              <a:t>优化 Calendar、Reminder、通知、屏幕录制等授权流程和降级提示。</a:t>
            </a:r>
            <a:endParaRPr sz="140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9264" y="2715768"/>
            <a:ext cx="27432" cy="502920"/>
          </a:xfrm>
          <a:prstGeom prst="rect">
            <a:avLst/>
          </a:prstGeom>
          <a:solidFill>
            <a:srgbClr val="E1E5EA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36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PingFang SC" panose="020B0400000000000000" charset="-122"/>
              </a:rPr>
              <a:t>3</a:t>
            </a:r>
            <a:endParaRPr sz="1200" b="1">
              <a:solidFill>
                <a:srgbClr val="16A34A"/>
              </a:solidFill>
              <a:latin typeface="PingFang SC" panose="020B0400000000000000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04672" y="3218688"/>
            <a:ext cx="347472" cy="347472"/>
          </a:xfrm>
          <a:prstGeom prst="ellipse">
            <a:avLst/>
          </a:prstGeom>
          <a:noFill/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16A34A"/>
                </a:solidFill>
                <a:latin typeface="PingFang SC" panose="020B0400000000000000" charset="-122"/>
              </a:rPr>
              <a:t>Agent 工具扩展</a:t>
            </a:r>
            <a:endParaRPr sz="1600" b="1">
              <a:solidFill>
                <a:srgbClr val="16A34A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3209544"/>
            <a:ext cx="818387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328"/>
                </a:solidFill>
                <a:latin typeface="PingFang SC" panose="020B0400000000000000" charset="-122"/>
              </a:rPr>
              <a:t>增加备忘录、邮件、文件、浏览器与更多系统自动化能力。</a:t>
            </a:r>
            <a:endParaRPr sz="140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9264" y="3657600"/>
            <a:ext cx="27432" cy="502920"/>
          </a:xfrm>
          <a:prstGeom prst="rect">
            <a:avLst/>
          </a:prstGeom>
          <a:solidFill>
            <a:srgbClr val="E1E5EA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78808"/>
            <a:ext cx="3474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PingFang SC" panose="020B0400000000000000" charset="-122"/>
              </a:rPr>
              <a:t>4</a:t>
            </a:r>
            <a:endParaRPr sz="1200" b="1">
              <a:solidFill>
                <a:srgbClr val="D97706"/>
              </a:solidFill>
              <a:latin typeface="PingFang SC" panose="020B0400000000000000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4672" y="4160520"/>
            <a:ext cx="347472" cy="347472"/>
          </a:xfrm>
          <a:prstGeom prst="ellipse">
            <a:avLst/>
          </a:prstGeom>
          <a:noFill/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312" y="414223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D97706"/>
                </a:solidFill>
                <a:latin typeface="PingFang SC" panose="020B0400000000000000" charset="-122"/>
              </a:rPr>
              <a:t>商业化验证</a:t>
            </a:r>
            <a:endParaRPr sz="1600" b="1">
              <a:solidFill>
                <a:srgbClr val="D97706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07792" y="4151376"/>
            <a:ext cx="818387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328"/>
                </a:solidFill>
                <a:latin typeface="PingFang SC" panose="020B0400000000000000" charset="-122"/>
              </a:rPr>
              <a:t>用小范围用户测试确认高频场景、付费意愿、误识别成本和隐私诉求。</a:t>
            </a:r>
            <a:endParaRPr sz="140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9264" y="4599432"/>
            <a:ext cx="27432" cy="502920"/>
          </a:xfrm>
          <a:prstGeom prst="rect">
            <a:avLst/>
          </a:prstGeom>
          <a:solidFill>
            <a:srgbClr val="E1E5EA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3474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BE123C"/>
                </a:solidFill>
                <a:latin typeface="PingFang SC" panose="020B0400000000000000" charset="-122"/>
              </a:rPr>
              <a:t>5</a:t>
            </a:r>
            <a:endParaRPr sz="1200" b="1">
              <a:solidFill>
                <a:srgbClr val="BE123C"/>
              </a:solidFill>
              <a:latin typeface="PingFang SC" panose="020B04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04672" y="5102352"/>
            <a:ext cx="347472" cy="347472"/>
          </a:xfrm>
          <a:prstGeom prst="ellipse">
            <a:avLst/>
          </a:prstGeom>
          <a:noFill/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3312" y="508406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BE123C"/>
                </a:solidFill>
                <a:latin typeface="PingFang SC" panose="020B0400000000000000" charset="-122"/>
              </a:rPr>
              <a:t>演示素材</a:t>
            </a:r>
            <a:endParaRPr sz="1600" b="1">
              <a:solidFill>
                <a:srgbClr val="BE123C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07792" y="5093208"/>
            <a:ext cx="8183879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1F2328"/>
                </a:solidFill>
                <a:latin typeface="PingFang SC" panose="020B0400000000000000" charset="-122"/>
              </a:rPr>
              <a:t>补齐实际截图、录屏、端到端 Demo 和答辩时可复现的样例数据。</a:t>
            </a:r>
            <a:endParaRPr sz="140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" y="6016752"/>
            <a:ext cx="9784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>
                <a:solidFill>
                  <a:srgbClr val="57606A"/>
                </a:solidFill>
                <a:latin typeface="PingFang SC" panose="020B0400000000000000" charset="-122"/>
              </a:rPr>
              <a:t>优先级建议：先保证端到端演示稳定，再扩展工具和商业化验证。</a:t>
            </a:r>
            <a:endParaRPr sz="1250" b="0">
              <a:solidFill>
                <a:srgbClr val="57606A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10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45720" cy="292608"/>
          </a:xfrm>
          <a:prstGeom prst="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1F2328"/>
                </a:solidFill>
                <a:latin typeface="PingFang SC" panose="020B0400000000000000" charset="-122"/>
              </a:rPr>
              <a:t>Q&amp;A</a:t>
            </a:r>
            <a:endParaRPr sz="27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1005840"/>
            <a:ext cx="4800600" cy="10972"/>
          </a:xfrm>
          <a:prstGeom prst="rect">
            <a:avLst/>
          </a:prstGeom>
          <a:solidFill>
            <a:srgbClr val="D1D9E0"/>
          </a:solidFill>
          <a:ln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81328"/>
            <a:ext cx="516636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1F2328"/>
                </a:solidFill>
                <a:latin typeface="PingFang SC" panose="020B0400000000000000" charset="-122"/>
              </a:rPr>
              <a:t>Jarvis 的价值：把“看到的信息”快速变成“系统里的行动”</a:t>
            </a:r>
            <a:endParaRPr sz="2100" b="1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2542032"/>
            <a:ext cx="484632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1F2328"/>
                </a:solidFill>
                <a:latin typeface="PingFang SC" panose="020B0400000000000000" charset="-122"/>
              </a:rPr>
              <a:t>• 更低输入成本：截图和自然语言即可触发任务整理</a:t>
            </a:r>
            <a:endParaRPr sz="155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1F2328"/>
                </a:solidFill>
                <a:latin typeface="PingFang SC" panose="020B0400000000000000" charset="-122"/>
              </a:rPr>
              <a:t>• 更强系统整合：直接连接 macOS Calendar、Reminder、Notifications 等原生能力</a:t>
            </a:r>
            <a:endParaRPr sz="1550" b="0">
              <a:solidFill>
                <a:srgbClr val="1F2328"/>
              </a:solidFill>
              <a:latin typeface="PingFang SC" panose="020B0400000000000000" charset="-122"/>
            </a:endParaRP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1F2328"/>
                </a:solidFill>
                <a:latin typeface="PingFang SC" panose="020B0400000000000000" charset="-122"/>
              </a:rPr>
              <a:t>• 更长期的个性化：Memory 和反馈让 Agent 持续贴近用户习惯</a:t>
            </a:r>
            <a:endParaRPr sz="1550" b="0">
              <a:solidFill>
                <a:srgbClr val="1F2328"/>
              </a:solidFill>
              <a:latin typeface="PingFang SC" panose="020B0400000000000000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6480" y="1417320"/>
            <a:ext cx="5285232" cy="4315968"/>
          </a:xfrm>
          <a:prstGeom prst="rect">
            <a:avLst/>
          </a:prstGeom>
          <a:noFill/>
          <a:ln w="12700">
            <a:solidFill>
              <a:srgbClr val="D1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651967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Jarvis / A组项目展示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0">
                <a:solidFill>
                  <a:srgbClr val="808B96"/>
                </a:solidFill>
                <a:latin typeface="PingFang SC" panose="020B0400000000000000" charset="-122"/>
              </a:rPr>
              <a:t>11</a:t>
            </a:r>
            <a:endParaRPr sz="850" b="0">
              <a:solidFill>
                <a:srgbClr val="808B9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2726</Words>
  <Application>WPS 演示</Application>
  <PresentationFormat>On-screen Show (4:3)</PresentationFormat>
  <Paragraphs>211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李博文</cp:lastModifiedBy>
  <cp:revision>2</cp:revision>
  <dcterms:created xsi:type="dcterms:W3CDTF">2026-06-08T02:33:34Z</dcterms:created>
  <dcterms:modified xsi:type="dcterms:W3CDTF">2026-06-08T02:33:34Z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87800535BE673027FE29266AFE2D502D_42</vt:lpwstr>
  </property>
  <property fmtid="{D5CDD505-2E9C-101B-9397-08002B2CF9AE}" pid="3" name="KSOProductBuildVer">
    <vt:lpwstr>2052-7.4.1.8983</vt:lpwstr>
  </property>
</Properties>
</file>